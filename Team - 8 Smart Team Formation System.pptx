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548640"/>
            <a:ext cx="1828800" cy="1828800"/>
          </a:xfrm>
          <a:prstGeom prst="ellipse">
            <a:avLst/>
          </a:prstGeom>
          <a:solidFill>
            <a:srgbClr val="2E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Oval 2"/>
          <p:cNvSpPr/>
          <p:nvPr/>
        </p:nvSpPr>
        <p:spPr>
          <a:xfrm>
            <a:off x="9875520" y="1920240"/>
            <a:ext cx="1143000" cy="1143000"/>
          </a:xfrm>
          <a:prstGeom prst="ellipse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Oval 3"/>
          <p:cNvSpPr/>
          <p:nvPr/>
        </p:nvSpPr>
        <p:spPr>
          <a:xfrm>
            <a:off x="8138160" y="3108960"/>
            <a:ext cx="914400" cy="914400"/>
          </a:xfrm>
          <a:prstGeom prst="ellipse">
            <a:avLst/>
          </a:prstGeom>
          <a:solidFill>
            <a:srgbClr val="7D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Oval 4"/>
          <p:cNvSpPr/>
          <p:nvPr/>
        </p:nvSpPr>
        <p:spPr>
          <a:xfrm>
            <a:off x="10332720" y="4023360"/>
            <a:ext cx="1371600" cy="1371600"/>
          </a:xfrm>
          <a:prstGeom prst="ellipse">
            <a:avLst/>
          </a:prstGeom>
          <a:solidFill>
            <a:srgbClr val="17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77240" y="685800"/>
            <a:ext cx="713232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CBECD"/>
                </a:solidFill>
                <a:latin typeface="Aptos"/>
              </a:rPr>
              <a:t>MACHINE LEARNING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7589520" cy="1463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SMART TEAM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FORMATION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6858000" cy="5486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D3E1F7"/>
                </a:solidFill>
                <a:latin typeface="Aptos"/>
              </a:rPr>
              <a:t>AI-Based Project Partner Finder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6766560" cy="82296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Finding compatible teammates through data-driven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skill, availability and experience matching.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349240"/>
            <a:ext cx="1417320" cy="347472"/>
          </a:xfrm>
          <a:prstGeom prst="roundRect">
            <a:avLst/>
          </a:prstGeom>
          <a:solidFill>
            <a:srgbClr val="24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59536" y="5385816"/>
            <a:ext cx="1344168" cy="237744"/>
          </a:xfrm>
          <a:prstGeom prst="rect">
            <a:avLst/>
          </a:prstGeom>
          <a:noFill/>
        </p:spPr>
        <p:txBody>
          <a:bodyPr wrap="square" lIns="64008" rIns="64008" tIns="32004" bIns="32004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CBECD"/>
                </a:solidFill>
                <a:latin typeface="Aptos"/>
              </a:rPr>
              <a:t>MACHINE LEARNING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5349240"/>
            <a:ext cx="1005840" cy="347472"/>
          </a:xfrm>
          <a:prstGeom prst="roundRect">
            <a:avLst/>
          </a:prstGeom>
          <a:solidFill>
            <a:srgbClr val="24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2414016" y="5385816"/>
            <a:ext cx="932688" cy="237744"/>
          </a:xfrm>
          <a:prstGeom prst="rect">
            <a:avLst/>
          </a:prstGeom>
          <a:noFill/>
        </p:spPr>
        <p:txBody>
          <a:bodyPr wrap="square" lIns="64008" rIns="64008" tIns="32004" bIns="32004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JAVA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5349240"/>
            <a:ext cx="1051560" cy="347472"/>
          </a:xfrm>
          <a:prstGeom prst="roundRect">
            <a:avLst/>
          </a:prstGeom>
          <a:solidFill>
            <a:srgbClr val="24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3557016" y="5385816"/>
            <a:ext cx="978407" cy="237744"/>
          </a:xfrm>
          <a:prstGeom prst="rect">
            <a:avLst/>
          </a:prstGeom>
          <a:noFill/>
        </p:spPr>
        <p:txBody>
          <a:bodyPr wrap="square" lIns="64008" rIns="64008" tIns="32004" bIns="32004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0D6"/>
                </a:solidFill>
                <a:latin typeface="Aptos"/>
              </a:rPr>
              <a:t>SMART TEAM FORMATION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0292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1F38"/>
                </a:solidFill>
                <a:latin typeface="Aptos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97280"/>
            <a:ext cx="822960" cy="50292"/>
          </a:xfrm>
          <a:prstGeom prst="rect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772400" cy="164592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5748B"/>
                </a:solidFill>
                <a:latin typeface="Aptos"/>
              </a:rPr>
              <a:t>Machine Learning Mini Project  •  Java + Python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5748B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5394960" cy="91440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63246"/>
                </a:solidFill>
                <a:latin typeface="Aptos"/>
              </a:rPr>
              <a:t>A web-based system that recommends suitable project teammates by comparing project requirements with student profiles.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394960" cy="3200400"/>
          </a:xfrm>
          <a:prstGeom prst="rect">
            <a:avLst/>
          </a:prstGeom>
          <a:noFill/>
        </p:spPr>
        <p:txBody>
          <a:bodyPr wrap="square" lIns="64008" rIns="64008" bIns="32004" tIns="32004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63246"/>
                </a:solidFill>
                <a:latin typeface="Aptos"/>
              </a:rPr>
              <a:t>•  Students maintain profiles with skills, experience and availability.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63246"/>
                </a:solidFill>
                <a:latin typeface="Aptos"/>
              </a:rPr>
              <a:t>•  Project owners define the skills needed for a project.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63246"/>
                </a:solidFill>
                <a:latin typeface="Aptos"/>
              </a:rPr>
              <a:t>•  The ML service estimates compatibility and ranks candidates.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63246"/>
                </a:solidFill>
                <a:latin typeface="Aptos"/>
              </a:rPr>
              <a:t>•  Java presents recommendations and manages project requests.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4069080"/>
            <a:ext cx="1572768" cy="1417320"/>
          </a:xfrm>
          <a:prstGeom prst="roundRect">
            <a:avLst/>
          </a:prstGeom>
          <a:solidFill>
            <a:srgbClr val="E2EDFD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Rectangle 9"/>
          <p:cNvSpPr/>
          <p:nvPr/>
        </p:nvSpPr>
        <p:spPr>
          <a:xfrm>
            <a:off x="6464808" y="4215384"/>
            <a:ext cx="64008" cy="1124712"/>
          </a:xfrm>
          <a:prstGeom prst="rect">
            <a:avLst/>
          </a:prstGeom>
          <a:solidFill>
            <a:srgbClr val="2E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611112" y="4270248"/>
            <a:ext cx="118872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1F38"/>
                </a:solidFill>
                <a:latin typeface="Aptos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4709160"/>
            <a:ext cx="1225295" cy="667512"/>
          </a:xfrm>
          <a:prstGeom prst="rect">
            <a:avLst/>
          </a:prstGeom>
          <a:noFill/>
        </p:spPr>
        <p:txBody>
          <a:bodyPr wrap="square" lIns="64008" rIns="64008" tIns="32004" bIns="32004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246"/>
                </a:solidFill>
                <a:latin typeface="Aptos"/>
              </a:rPr>
              <a:t>Student profile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246"/>
                </a:solidFill>
                <a:latin typeface="Aptos"/>
              </a:rPr>
              <a:t>Project requirements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069080"/>
            <a:ext cx="1572768" cy="1417320"/>
          </a:xfrm>
          <a:prstGeom prst="roundRect">
            <a:avLst/>
          </a:prstGeom>
          <a:solidFill>
            <a:srgbClr val="EFEA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Rectangle 13"/>
          <p:cNvSpPr/>
          <p:nvPr/>
        </p:nvSpPr>
        <p:spPr>
          <a:xfrm>
            <a:off x="8385048" y="4215384"/>
            <a:ext cx="64008" cy="1124712"/>
          </a:xfrm>
          <a:prstGeom prst="rect">
            <a:avLst/>
          </a:prstGeom>
          <a:solidFill>
            <a:srgbClr val="7D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531352" y="4270248"/>
            <a:ext cx="118872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1F38"/>
                </a:solidFill>
                <a:latin typeface="Aptos"/>
              </a:rPr>
              <a:t>ML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94776" y="4709160"/>
            <a:ext cx="1225295" cy="667512"/>
          </a:xfrm>
          <a:prstGeom prst="rect">
            <a:avLst/>
          </a:prstGeom>
          <a:noFill/>
        </p:spPr>
        <p:txBody>
          <a:bodyPr wrap="square" lIns="64008" rIns="64008" tIns="32004" bIns="32004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246"/>
                </a:solidFill>
                <a:latin typeface="Aptos"/>
              </a:rPr>
              <a:t>Feature processing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246"/>
                </a:solidFill>
                <a:latin typeface="Aptos"/>
              </a:rPr>
              <a:t>Compatibility scoring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95560" y="4069080"/>
            <a:ext cx="1572768" cy="1417320"/>
          </a:xfrm>
          <a:prstGeom prst="roundRect">
            <a:avLst/>
          </a:prstGeom>
          <a:solidFill>
            <a:srgbClr val="E1F6ED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Rectangle 17"/>
          <p:cNvSpPr/>
          <p:nvPr/>
        </p:nvSpPr>
        <p:spPr>
          <a:xfrm>
            <a:off x="10305288" y="4215384"/>
            <a:ext cx="64008" cy="1124712"/>
          </a:xfrm>
          <a:prstGeom prst="rect">
            <a:avLst/>
          </a:prstGeom>
          <a:solidFill>
            <a:srgbClr val="17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0451592" y="4270248"/>
            <a:ext cx="118872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1F38"/>
                </a:solidFill>
                <a:latin typeface="Aptos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15016" y="4709160"/>
            <a:ext cx="1225295" cy="667512"/>
          </a:xfrm>
          <a:prstGeom prst="rect">
            <a:avLst/>
          </a:prstGeom>
          <a:noFill/>
        </p:spPr>
        <p:txBody>
          <a:bodyPr wrap="square" lIns="64008" rIns="64008" tIns="32004" bIns="32004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246"/>
                </a:solidFill>
                <a:latin typeface="Aptos"/>
              </a:rPr>
              <a:t>Ranked candidates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246"/>
                </a:solidFill>
                <a:latin typeface="Aptos"/>
              </a:rPr>
              <a:t>Match score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55279" y="4777740"/>
            <a:ext cx="274321" cy="0"/>
          </a:xfrm>
          <a:prstGeom prst="line">
            <a:avLst/>
          </a:prstGeom>
          <a:ln w="25400">
            <a:solidFill>
              <a:srgbClr val="2C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875520" y="4777740"/>
            <a:ext cx="274320" cy="0"/>
          </a:xfrm>
          <a:prstGeom prst="line">
            <a:avLst/>
          </a:prstGeom>
          <a:ln w="25400">
            <a:solidFill>
              <a:srgbClr val="2C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17920" y="5715000"/>
            <a:ext cx="5577840" cy="347472"/>
          </a:xfrm>
          <a:prstGeom prst="rect">
            <a:avLst/>
          </a:prstGeom>
          <a:noFill/>
        </p:spPr>
        <p:txBody>
          <a:bodyPr wrap="square" lIns="64008" rIns="64008" tIns="32004" bIns="32004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1F38"/>
                </a:solidFill>
                <a:latin typeface="Aptos"/>
              </a:rPr>
              <a:t>Input data  →  ML matching  →  Ranked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0D6"/>
                </a:solidFill>
                <a:latin typeface="Aptos"/>
              </a:rPr>
              <a:t>SMART TEAM FORMATION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0292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1F38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97280"/>
            <a:ext cx="822960" cy="50292"/>
          </a:xfrm>
          <a:prstGeom prst="rect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772400" cy="164592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5748B"/>
                </a:solidFill>
                <a:latin typeface="Aptos"/>
              </a:rPr>
              <a:t>Machine Learning Mini Project  •  Java + Python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5748B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035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527048"/>
            <a:ext cx="64008" cy="4123944"/>
          </a:xfrm>
          <a:prstGeom prst="rect">
            <a:avLst/>
          </a:prstGeom>
          <a:solidFill>
            <a:srgbClr val="D6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22959" y="1563624"/>
            <a:ext cx="498348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1F38"/>
                </a:solidFill>
                <a:latin typeface="Aptos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947672"/>
            <a:ext cx="4983480" cy="372160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63246"/>
                </a:solidFill>
                <a:latin typeface="Aptos"/>
              </a:rPr>
              <a:t>• Students often search for teammates manually.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63246"/>
                </a:solidFill>
                <a:latin typeface="Aptos"/>
              </a:rPr>
              <a:t>• Skills and availability are not always visible in one place.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63246"/>
                </a:solidFill>
                <a:latin typeface="Aptos"/>
              </a:rPr>
              <a:t>• Choosing a team only by friendship may leave skill gaps.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63246"/>
                </a:solidFill>
                <a:latin typeface="Aptos"/>
              </a:rPr>
              <a:t>• Comparing many profiles takes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3035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Rectangle 11"/>
          <p:cNvSpPr/>
          <p:nvPr/>
        </p:nvSpPr>
        <p:spPr>
          <a:xfrm>
            <a:off x="6217920" y="1527048"/>
            <a:ext cx="64008" cy="4123944"/>
          </a:xfrm>
          <a:prstGeom prst="rect">
            <a:avLst/>
          </a:prstGeom>
          <a:solidFill>
            <a:srgbClr val="17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0" y="1563624"/>
            <a:ext cx="498348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1F38"/>
                </a:solidFill>
                <a:latin typeface="Aptos"/>
              </a:rP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47672"/>
            <a:ext cx="4983480" cy="372160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63246"/>
                </a:solidFill>
                <a:latin typeface="Aptos"/>
              </a:rPr>
              <a:t>• Store student and project data centrally.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63246"/>
                </a:solidFill>
                <a:latin typeface="Aptos"/>
              </a:rPr>
              <a:t>• Match project skills with student skills.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63246"/>
                </a:solidFill>
                <a:latin typeface="Aptos"/>
              </a:rPr>
              <a:t>• Use ML-based features to estimate compatibility.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63246"/>
                </a:solidFill>
                <a:latin typeface="Aptos"/>
              </a:rPr>
              <a:t>• Rank candidates and support invitations.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63246"/>
                </a:solidFill>
                <a:latin typeface="Aptos"/>
              </a:rPr>
              <a:t>• Demonstrate Java–Python integration.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0D6"/>
                </a:solidFill>
                <a:latin typeface="Aptos"/>
              </a:rPr>
              <a:t>SMART TEAM FORMATION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0292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1F38"/>
                </a:solidFill>
                <a:latin typeface="Aptos"/>
              </a:rPr>
              <a:t>System Architecture: Java + ML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97280"/>
            <a:ext cx="822960" cy="50292"/>
          </a:xfrm>
          <a:prstGeom prst="rect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772400" cy="164592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5748B"/>
                </a:solidFill>
                <a:latin typeface="Aptos"/>
              </a:rPr>
              <a:t>Machine Learning Mini Project  •  Java + Python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5748B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2423160" cy="1828800"/>
          </a:xfrm>
          <a:prstGeom prst="roundRect">
            <a:avLst/>
          </a:prstGeom>
          <a:solidFill>
            <a:srgbClr val="E2EDFD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Rectangle 7"/>
          <p:cNvSpPr/>
          <p:nvPr/>
        </p:nvSpPr>
        <p:spPr>
          <a:xfrm>
            <a:off x="594360" y="1938528"/>
            <a:ext cx="64008" cy="1609344"/>
          </a:xfrm>
          <a:prstGeom prst="rect">
            <a:avLst/>
          </a:prstGeom>
          <a:solidFill>
            <a:srgbClr val="2E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77240" y="1975104"/>
            <a:ext cx="210312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1F38"/>
                </a:solidFill>
                <a:latin typeface="Aptos"/>
              </a:rPr>
              <a:t>1. USER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59152"/>
            <a:ext cx="2103120" cy="1207007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246"/>
                </a:solidFill>
                <a:latin typeface="Aptos"/>
              </a:rPr>
              <a:t>HTML / CSS / JavaScript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246"/>
                </a:solidFill>
                <a:latin typeface="Aptos"/>
              </a:rPr>
              <a:t>Login, profiles, projects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828800"/>
            <a:ext cx="2423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Rectangle 11"/>
          <p:cNvSpPr/>
          <p:nvPr/>
        </p:nvSpPr>
        <p:spPr>
          <a:xfrm>
            <a:off x="3337560" y="1938528"/>
            <a:ext cx="64008" cy="1609344"/>
          </a:xfrm>
          <a:prstGeom prst="rect">
            <a:avLst/>
          </a:prstGeom>
          <a:solidFill>
            <a:srgbClr val="F0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3520440" y="1975104"/>
            <a:ext cx="210312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1F38"/>
                </a:solidFill>
                <a:latin typeface="Aptos"/>
              </a:rPr>
              <a:t>2. JAVA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59152"/>
            <a:ext cx="2103120" cy="1207007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246"/>
                </a:solidFill>
                <a:latin typeface="Aptos"/>
              </a:rPr>
              <a:t>Spring Boot / Servlets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246"/>
                </a:solidFill>
                <a:latin typeface="Aptos"/>
              </a:rPr>
              <a:t>Validation, REST, workflows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1828800"/>
            <a:ext cx="2423160" cy="1828800"/>
          </a:xfrm>
          <a:prstGeom prst="roundRect">
            <a:avLst/>
          </a:prstGeom>
          <a:solidFill>
            <a:srgbClr val="EFEA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Rectangle 15"/>
          <p:cNvSpPr/>
          <p:nvPr/>
        </p:nvSpPr>
        <p:spPr>
          <a:xfrm>
            <a:off x="6080760" y="1938528"/>
            <a:ext cx="64008" cy="1609344"/>
          </a:xfrm>
          <a:prstGeom prst="rect">
            <a:avLst/>
          </a:prstGeom>
          <a:solidFill>
            <a:srgbClr val="7D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263640" y="1975104"/>
            <a:ext cx="210312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1F38"/>
                </a:solidFill>
                <a:latin typeface="Aptos"/>
              </a:rPr>
              <a:t>3. PYTHON ML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359152"/>
            <a:ext cx="2103120" cy="1207007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246"/>
                </a:solidFill>
                <a:latin typeface="Aptos"/>
              </a:rPr>
              <a:t>Pandas + scikit-learn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246"/>
                </a:solidFill>
                <a:latin typeface="Aptos"/>
              </a:rPr>
              <a:t>Feature processing, prediction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1828800"/>
            <a:ext cx="2697480" cy="1828800"/>
          </a:xfrm>
          <a:prstGeom prst="roundRect">
            <a:avLst/>
          </a:prstGeom>
          <a:solidFill>
            <a:srgbClr val="E1F6ED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Rectangle 19"/>
          <p:cNvSpPr/>
          <p:nvPr/>
        </p:nvSpPr>
        <p:spPr>
          <a:xfrm>
            <a:off x="8823960" y="1938528"/>
            <a:ext cx="64008" cy="1609344"/>
          </a:xfrm>
          <a:prstGeom prst="rect">
            <a:avLst/>
          </a:prstGeom>
          <a:solidFill>
            <a:srgbClr val="17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9006840" y="1975104"/>
            <a:ext cx="237744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1F38"/>
                </a:solidFill>
                <a:latin typeface="Aptos"/>
              </a:rPr>
              <a:t>4. MYSQL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359152"/>
            <a:ext cx="2377440" cy="1207007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246"/>
                </a:solidFill>
                <a:latin typeface="Aptos"/>
              </a:rPr>
              <a:t>Students, skills, projects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246"/>
                </a:solidFill>
                <a:latin typeface="Aptos"/>
              </a:rPr>
              <a:t>Requests and memberships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17520" y="2743200"/>
            <a:ext cx="320040" cy="0"/>
          </a:xfrm>
          <a:prstGeom prst="line">
            <a:avLst/>
          </a:prstGeom>
          <a:ln w="25400">
            <a:solidFill>
              <a:srgbClr val="2E7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760720" y="2743200"/>
            <a:ext cx="320040" cy="0"/>
          </a:xfrm>
          <a:prstGeom prst="line">
            <a:avLst/>
          </a:prstGeom>
          <a:ln w="25400">
            <a:solidFill>
              <a:srgbClr val="2E7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503920" y="2743200"/>
            <a:ext cx="320040" cy="0"/>
          </a:xfrm>
          <a:prstGeom prst="line">
            <a:avLst/>
          </a:prstGeom>
          <a:ln w="25400">
            <a:solidFill>
              <a:srgbClr val="2E7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4251960"/>
            <a:ext cx="10698480" cy="91440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1F38"/>
                </a:solidFill>
                <a:latin typeface="Aptos"/>
              </a:rPr>
              <a:t>ML focus: Java sends structured data as JSON → Python computes match features / score → Java displays ranked recommendations.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0" y="5486400"/>
            <a:ext cx="4114800" cy="347472"/>
          </a:xfrm>
          <a:prstGeom prst="roundRect">
            <a:avLst/>
          </a:prstGeom>
          <a:solidFill>
            <a:srgbClr val="DE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059936" y="5522976"/>
            <a:ext cx="4041648" cy="237744"/>
          </a:xfrm>
          <a:prstGeom prst="rect">
            <a:avLst/>
          </a:prstGeom>
          <a:noFill/>
        </p:spPr>
        <p:txBody>
          <a:bodyPr wrap="square" lIns="64008" rIns="64008" tIns="32004" bIns="32004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79187"/>
                </a:solidFill>
                <a:latin typeface="Aptos"/>
              </a:rPr>
              <a:t>REST API = bridge between Java and Python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0D6"/>
                </a:solidFill>
                <a:latin typeface="Aptos"/>
              </a:rPr>
              <a:t>SMART TEAM FORMATION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0292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1F38"/>
                </a:solidFill>
                <a:latin typeface="Aptos"/>
              </a:rPr>
              <a:t>Machine Learning Problem Formulation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97280"/>
            <a:ext cx="822960" cy="50292"/>
          </a:xfrm>
          <a:prstGeom prst="rect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772400" cy="164592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5748B"/>
                </a:solidFill>
                <a:latin typeface="Aptos"/>
              </a:rPr>
              <a:t>Machine Learning Mini Project  •  Java + Python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5748B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527048"/>
            <a:ext cx="64008" cy="1609344"/>
          </a:xfrm>
          <a:prstGeom prst="rect">
            <a:avLst/>
          </a:prstGeom>
          <a:solidFill>
            <a:srgbClr val="2E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22959" y="1563624"/>
            <a:ext cx="3154679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1F38"/>
                </a:solidFill>
                <a:latin typeface="Aptos"/>
              </a:rPr>
              <a:t>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947672"/>
            <a:ext cx="3154679" cy="1207007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246"/>
                </a:solidFill>
                <a:latin typeface="Aptos"/>
              </a:rPr>
              <a:t>Estimate how compatible a student is with a project/team.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Rectangle 11"/>
          <p:cNvSpPr/>
          <p:nvPr/>
        </p:nvSpPr>
        <p:spPr>
          <a:xfrm>
            <a:off x="4343400" y="1527048"/>
            <a:ext cx="64008" cy="1609344"/>
          </a:xfrm>
          <a:prstGeom prst="rect">
            <a:avLst/>
          </a:prstGeom>
          <a:solidFill>
            <a:srgbClr val="7D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26280" y="1563624"/>
            <a:ext cx="3154679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1F38"/>
                </a:solidFill>
                <a:latin typeface="Aptos"/>
              </a:rPr>
              <a:t>INPUT FEATURES (X)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47672"/>
            <a:ext cx="3154679" cy="1207007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246"/>
                </a:solidFill>
                <a:latin typeface="Aptos"/>
              </a:rPr>
              <a:t>Skill overlap, availability, experience and profile/project 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Rectangle 15"/>
          <p:cNvSpPr/>
          <p:nvPr/>
        </p:nvSpPr>
        <p:spPr>
          <a:xfrm>
            <a:off x="8046720" y="1527048"/>
            <a:ext cx="64008" cy="1609344"/>
          </a:xfrm>
          <a:prstGeom prst="rect">
            <a:avLst/>
          </a:prstGeom>
          <a:solidFill>
            <a:srgbClr val="17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229600" y="1563624"/>
            <a:ext cx="3154679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1F38"/>
                </a:solidFill>
                <a:latin typeface="Aptos"/>
              </a:rPr>
              <a:t>OUTPUT (y / SCORE)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947672"/>
            <a:ext cx="3154679" cy="1207007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246"/>
                </a:solidFill>
                <a:latin typeface="Aptos"/>
              </a:rPr>
              <a:t>A compatibility score or match category used to rank candidates.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40480"/>
            <a:ext cx="10607040" cy="41148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1F38"/>
                </a:solidFill>
                <a:latin typeface="Aptos"/>
              </a:rPr>
              <a:t>Two possible implementation strategies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389120"/>
            <a:ext cx="4983480" cy="1325880"/>
          </a:xfrm>
          <a:prstGeom prst="roundRect">
            <a:avLst/>
          </a:prstGeom>
          <a:solidFill>
            <a:srgbClr val="E2EDFD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Rectangle 20"/>
          <p:cNvSpPr/>
          <p:nvPr/>
        </p:nvSpPr>
        <p:spPr>
          <a:xfrm>
            <a:off x="822960" y="4498848"/>
            <a:ext cx="64008" cy="1106424"/>
          </a:xfrm>
          <a:prstGeom prst="rect">
            <a:avLst/>
          </a:prstGeom>
          <a:solidFill>
            <a:srgbClr val="2E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1005840" y="4535424"/>
            <a:ext cx="466344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1F38"/>
                </a:solidFill>
                <a:latin typeface="Aptos"/>
              </a:rPr>
              <a:t>RULE / SIMILARITY-BASED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919472"/>
            <a:ext cx="4663440" cy="704087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246"/>
                </a:solidFill>
                <a:latin typeface="Aptos"/>
              </a:rPr>
              <a:t>No labeled training data required; useful as a baseline.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389120"/>
            <a:ext cx="4983480" cy="1325880"/>
          </a:xfrm>
          <a:prstGeom prst="roundRect">
            <a:avLst/>
          </a:prstGeom>
          <a:solidFill>
            <a:srgbClr val="EFEA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5" name="Rectangle 24"/>
          <p:cNvSpPr/>
          <p:nvPr/>
        </p:nvSpPr>
        <p:spPr>
          <a:xfrm>
            <a:off x="6309360" y="4498848"/>
            <a:ext cx="64008" cy="1106424"/>
          </a:xfrm>
          <a:prstGeom prst="rect">
            <a:avLst/>
          </a:prstGeom>
          <a:solidFill>
            <a:srgbClr val="7D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492240" y="4535424"/>
            <a:ext cx="466344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1F38"/>
                </a:solidFill>
                <a:latin typeface="Aptos"/>
              </a:rPr>
              <a:t>SUPERVISED 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919472"/>
            <a:ext cx="4663440" cy="704087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246"/>
                </a:solidFill>
                <a:latin typeface="Aptos"/>
              </a:rPr>
              <a:t>Train a classifier/regressor using labeled examples of good matches.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897880"/>
            <a:ext cx="10424160" cy="27432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5748B"/>
                </a:solidFill>
                <a:latin typeface="Aptos"/>
              </a:rPr>
              <a:t>The final report should clearly state which strategy is actually implemented and evaluated.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0D6"/>
                </a:solidFill>
                <a:latin typeface="Aptos"/>
              </a:rPr>
              <a:t>SMART TEAM FORMATION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0292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1F38"/>
                </a:solidFill>
                <a:latin typeface="Aptos"/>
              </a:rPr>
              <a:t>Dataset &amp; Feature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97280"/>
            <a:ext cx="822960" cy="50292"/>
          </a:xfrm>
          <a:prstGeom prst="rect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772400" cy="164592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5748B"/>
                </a:solidFill>
                <a:latin typeface="Aptos"/>
              </a:rPr>
              <a:t>Machine Learning Mini Project  •  Java + Python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5748B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53312"/>
            <a:ext cx="5029200" cy="41148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1F38"/>
                </a:solidFill>
                <a:latin typeface="Aptos"/>
              </a:rPr>
              <a:t>Possible input features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828800"/>
          <a:ext cx="65836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663440"/>
              </a:tblGrid>
              <a:tr h="509451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2E70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2E70D6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46"/>
                          </a:solidFill>
                        </a:rPr>
                        <a:t>skill_match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46"/>
                          </a:solidFill>
                        </a:rPr>
                        <a:t>How many required skills the student has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46"/>
                          </a:solidFill>
                        </a:rPr>
                        <a:t>availability_match</a:t>
                      </a:r>
                    </a:p>
                  </a:txBody>
                  <a:tcPr>
                    <a:solidFill>
                      <a:srgbClr val="E2E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46"/>
                          </a:solidFill>
                        </a:rPr>
                        <a:t>Overlap with project schedule</a:t>
                      </a:r>
                    </a:p>
                  </a:txBody>
                  <a:tcPr>
                    <a:solidFill>
                      <a:srgbClr val="E2EDFD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46"/>
                          </a:solidFill>
                        </a:rPr>
                        <a:t>experience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46"/>
                          </a:solidFill>
                        </a:rPr>
                        <a:t>Student experience 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46"/>
                          </a:solidFill>
                        </a:rPr>
                        <a:t>department_match</a:t>
                      </a:r>
                    </a:p>
                  </a:txBody>
                  <a:tcPr>
                    <a:solidFill>
                      <a:srgbClr val="E2E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46"/>
                          </a:solidFill>
                        </a:rPr>
                        <a:t>Optional department similarity</a:t>
                      </a:r>
                    </a:p>
                  </a:txBody>
                  <a:tcPr>
                    <a:solidFill>
                      <a:srgbClr val="E2EDFD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46"/>
                          </a:solidFill>
                        </a:rPr>
                        <a:t>role_match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46"/>
                          </a:solidFill>
                        </a:rPr>
                        <a:t>Fit for a team role, if collected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46"/>
                          </a:solidFill>
                        </a:rPr>
                        <a:t>previous_team_rating</a:t>
                      </a:r>
                    </a:p>
                  </a:txBody>
                  <a:tcPr>
                    <a:solidFill>
                      <a:srgbClr val="E2E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46"/>
                          </a:solidFill>
                        </a:rPr>
                        <a:t>Historical feedback, only if valid data exists</a:t>
                      </a:r>
                    </a:p>
                  </a:txBody>
                  <a:tcPr>
                    <a:solidFill>
                      <a:srgbClr val="E2EDFD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35240" y="1828800"/>
            <a:ext cx="3794760" cy="1417320"/>
          </a:xfrm>
          <a:prstGeom prst="roundRect">
            <a:avLst/>
          </a:prstGeom>
          <a:solidFill>
            <a:srgbClr val="EFEA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Rectangle 9"/>
          <p:cNvSpPr/>
          <p:nvPr/>
        </p:nvSpPr>
        <p:spPr>
          <a:xfrm>
            <a:off x="7635240" y="1938528"/>
            <a:ext cx="64008" cy="1197864"/>
          </a:xfrm>
          <a:prstGeom prst="rect">
            <a:avLst/>
          </a:prstGeom>
          <a:solidFill>
            <a:srgbClr val="7D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818119" y="1975104"/>
            <a:ext cx="347472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1F38"/>
                </a:solidFill>
                <a:latin typeface="Aptos"/>
              </a:rPr>
              <a:t>DATA PREPARATION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19" y="2359152"/>
            <a:ext cx="3474720" cy="79552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246"/>
                </a:solidFill>
                <a:latin typeface="Aptos"/>
              </a:rPr>
              <a:t>Handle missing values, normalize labels, encode categories and remove duplicate records.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3566160"/>
            <a:ext cx="3794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Rectangle 13"/>
          <p:cNvSpPr/>
          <p:nvPr/>
        </p:nvSpPr>
        <p:spPr>
          <a:xfrm>
            <a:off x="7635240" y="3675887"/>
            <a:ext cx="64008" cy="1197864"/>
          </a:xfrm>
          <a:prstGeom prst="rect">
            <a:avLst/>
          </a:prstGeom>
          <a:solidFill>
            <a:srgbClr val="F0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818119" y="3712463"/>
            <a:ext cx="347472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1F38"/>
                </a:solidFill>
                <a:latin typeface="Aptos"/>
              </a:rPr>
              <a:t>IMPORTANT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19" y="4096511"/>
            <a:ext cx="3474720" cy="79552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246"/>
                </a:solidFill>
                <a:latin typeface="Aptos"/>
              </a:rPr>
              <a:t>Synthetic/demo data can test the pipeline, but cannot prove real-world accuracy.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5349240"/>
            <a:ext cx="3383280" cy="50292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65858"/>
                </a:solidFill>
                <a:latin typeface="Aptos"/>
              </a:rPr>
              <a:t>Avoid data leakage: features must be available before matching.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0D6"/>
                </a:solidFill>
                <a:latin typeface="Aptos"/>
              </a:rPr>
              <a:t>SMART TEAM FORMATION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0292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1F38"/>
                </a:solidFill>
                <a:latin typeface="Aptos"/>
              </a:rPr>
              <a:t>ML Pipeline: From Raw Data to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97280"/>
            <a:ext cx="822960" cy="50292"/>
          </a:xfrm>
          <a:prstGeom prst="rect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772400" cy="164592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5748B"/>
                </a:solidFill>
                <a:latin typeface="Aptos"/>
              </a:rPr>
              <a:t>Machine Learning Mini Project  •  Java + Python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5748B"/>
                </a:solidFill>
                <a:latin typeface="Aptos"/>
              </a:rPr>
              <a:t>07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1691640"/>
            <a:ext cx="594360" cy="594360"/>
          </a:xfrm>
          <a:prstGeom prst="ellipse">
            <a:avLst/>
          </a:prstGeom>
          <a:solidFill>
            <a:srgbClr val="2E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" y="1847088"/>
            <a:ext cx="594360" cy="20116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1627632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1F38"/>
                </a:solidFill>
                <a:latin typeface="Aptos"/>
              </a:rPr>
              <a:t>Collect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926080"/>
            <a:ext cx="1773936" cy="82296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63246"/>
                </a:solidFill>
                <a:latin typeface="Aptos"/>
              </a:rPr>
              <a:t>Student + project records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01368" y="1993392"/>
            <a:ext cx="1014984" cy="0"/>
          </a:xfrm>
          <a:prstGeom prst="line">
            <a:avLst/>
          </a:prstGeom>
          <a:ln w="19050">
            <a:solidFill>
              <a:srgbClr val="65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953512" y="1691640"/>
            <a:ext cx="594360" cy="594360"/>
          </a:xfrm>
          <a:prstGeom prst="ellipse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2953512" y="1847088"/>
            <a:ext cx="594360" cy="20116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0592" y="2514600"/>
            <a:ext cx="1627632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1F38"/>
                </a:solidFill>
                <a:latin typeface="Aptos"/>
              </a:rPr>
              <a:t>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926080"/>
            <a:ext cx="1773936" cy="82296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63246"/>
                </a:solidFill>
                <a:latin typeface="Aptos"/>
              </a:rPr>
              <a:t>Missing values, duplicates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49039" y="1993392"/>
            <a:ext cx="1014985" cy="0"/>
          </a:xfrm>
          <a:prstGeom prst="line">
            <a:avLst/>
          </a:prstGeom>
          <a:ln w="19050">
            <a:solidFill>
              <a:srgbClr val="65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901183" y="1691640"/>
            <a:ext cx="594360" cy="594360"/>
          </a:xfrm>
          <a:prstGeom prst="ellipse">
            <a:avLst/>
          </a:prstGeom>
          <a:solidFill>
            <a:srgbClr val="7D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4901183" y="1847088"/>
            <a:ext cx="594360" cy="20116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8264" y="2514600"/>
            <a:ext cx="1627632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1F38"/>
                </a:solidFill>
                <a:latin typeface="Aptos"/>
              </a:rPr>
              <a:t>Transform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2926080"/>
            <a:ext cx="1773936" cy="82296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63246"/>
                </a:solidFill>
                <a:latin typeface="Aptos"/>
              </a:rPr>
              <a:t>Encode / scale features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96712" y="1993392"/>
            <a:ext cx="1014984" cy="0"/>
          </a:xfrm>
          <a:prstGeom prst="line">
            <a:avLst/>
          </a:prstGeom>
          <a:ln w="19050">
            <a:solidFill>
              <a:srgbClr val="65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848856" y="1691640"/>
            <a:ext cx="594360" cy="594360"/>
          </a:xfrm>
          <a:prstGeom prst="ellipse">
            <a:avLst/>
          </a:prstGeom>
          <a:solidFill>
            <a:srgbClr val="F0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848856" y="1847088"/>
            <a:ext cx="594360" cy="20116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2514600"/>
            <a:ext cx="1627632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1F38"/>
                </a:solidFill>
                <a:latin typeface="Aptos"/>
              </a:rPr>
              <a:t>Train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2926080"/>
            <a:ext cx="1773936" cy="82296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63246"/>
                </a:solidFill>
                <a:latin typeface="Aptos"/>
              </a:rPr>
              <a:t>Fit model on training set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644383" y="1993392"/>
            <a:ext cx="1014985" cy="0"/>
          </a:xfrm>
          <a:prstGeom prst="line">
            <a:avLst/>
          </a:prstGeom>
          <a:ln w="19050">
            <a:solidFill>
              <a:srgbClr val="65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796528" y="1691640"/>
            <a:ext cx="594360" cy="594360"/>
          </a:xfrm>
          <a:prstGeom prst="ellipse">
            <a:avLst/>
          </a:prstGeom>
          <a:solidFill>
            <a:srgbClr val="17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8796528" y="1847088"/>
            <a:ext cx="594360" cy="20116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2514600"/>
            <a:ext cx="1627632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1F38"/>
                </a:solidFill>
                <a:latin typeface="Aptos"/>
              </a:rPr>
              <a:t>Evaluate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0456" y="2926080"/>
            <a:ext cx="1773936" cy="82296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63246"/>
                </a:solidFill>
                <a:latin typeface="Aptos"/>
              </a:rPr>
              <a:t>Test on unseen examples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92056" y="1993392"/>
            <a:ext cx="832104" cy="0"/>
          </a:xfrm>
          <a:prstGeom prst="line">
            <a:avLst/>
          </a:prstGeom>
          <a:ln w="19050">
            <a:solidFill>
              <a:srgbClr val="65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0561320" y="1691640"/>
            <a:ext cx="594360" cy="594360"/>
          </a:xfrm>
          <a:prstGeom prst="ellipse">
            <a:avLst/>
          </a:prstGeom>
          <a:solidFill>
            <a:srgbClr val="2E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10561320" y="1847088"/>
            <a:ext cx="594360" cy="20116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2514600"/>
            <a:ext cx="160020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1F38"/>
                </a:solidFill>
                <a:latin typeface="Aptos"/>
              </a:rPr>
              <a:t>Predict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85248" y="2926080"/>
            <a:ext cx="1746504" cy="82296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63246"/>
                </a:solidFill>
                <a:latin typeface="Aptos"/>
              </a:rPr>
              <a:t>Return compatibility result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389120"/>
            <a:ext cx="4663440" cy="1097280"/>
          </a:xfrm>
          <a:prstGeom prst="roundRect">
            <a:avLst/>
          </a:prstGeom>
          <a:solidFill>
            <a:srgbClr val="E2EDFD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7" name="Rectangle 36"/>
          <p:cNvSpPr/>
          <p:nvPr/>
        </p:nvSpPr>
        <p:spPr>
          <a:xfrm>
            <a:off x="914400" y="4498848"/>
            <a:ext cx="64008" cy="877824"/>
          </a:xfrm>
          <a:prstGeom prst="rect">
            <a:avLst/>
          </a:prstGeom>
          <a:solidFill>
            <a:srgbClr val="2E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1097280" y="4535424"/>
            <a:ext cx="434340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1F38"/>
                </a:solidFill>
                <a:latin typeface="Aptos"/>
              </a:rPr>
              <a:t>TRAINING 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4919472"/>
            <a:ext cx="4343400" cy="475487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246"/>
                </a:solidFill>
                <a:latin typeface="Aptos"/>
              </a:rPr>
              <a:t>Used to learn relationships between features and match labels.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37960" y="4389120"/>
            <a:ext cx="4663440" cy="1097280"/>
          </a:xfrm>
          <a:prstGeom prst="roundRect">
            <a:avLst/>
          </a:prstGeom>
          <a:solidFill>
            <a:srgbClr val="E1F6ED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1" name="Rectangle 40"/>
          <p:cNvSpPr/>
          <p:nvPr/>
        </p:nvSpPr>
        <p:spPr>
          <a:xfrm>
            <a:off x="6537960" y="4498848"/>
            <a:ext cx="64008" cy="877824"/>
          </a:xfrm>
          <a:prstGeom prst="rect">
            <a:avLst/>
          </a:prstGeom>
          <a:solidFill>
            <a:srgbClr val="17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6720840" y="4535424"/>
            <a:ext cx="434340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1F38"/>
                </a:solidFill>
                <a:latin typeface="Aptos"/>
              </a:rPr>
              <a:t>TEST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4919472"/>
            <a:ext cx="4343400" cy="475487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246"/>
                </a:solidFill>
                <a:latin typeface="Aptos"/>
              </a:rPr>
              <a:t>Held back until evaluation to estimate generalization.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0D6"/>
                </a:solidFill>
                <a:latin typeface="Aptos"/>
              </a:rPr>
              <a:t>SMART TEAM FORMATION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0292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1F38"/>
                </a:solidFill>
                <a:latin typeface="Aptos"/>
              </a:rPr>
              <a:t>ML Algorithms Used / Considered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97280"/>
            <a:ext cx="822960" cy="50292"/>
          </a:xfrm>
          <a:prstGeom prst="rect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772400" cy="164592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5748B"/>
                </a:solidFill>
                <a:latin typeface="Aptos"/>
              </a:rPr>
              <a:t>Machine Learning Mini Project  •  Java + Python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5748B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3154680"/>
          </a:xfrm>
          <a:prstGeom prst="roundRect">
            <a:avLst/>
          </a:prstGeom>
          <a:solidFill>
            <a:srgbClr val="E2EDFD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527048"/>
            <a:ext cx="64008" cy="2935224"/>
          </a:xfrm>
          <a:prstGeom prst="rect">
            <a:avLst/>
          </a:prstGeom>
          <a:solidFill>
            <a:srgbClr val="2E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22959" y="1563624"/>
            <a:ext cx="320040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1F38"/>
                </a:solidFill>
                <a:latin typeface="Aptos"/>
              </a:rPr>
              <a:t>TF-IDF + COSINE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947672"/>
            <a:ext cx="3200400" cy="253288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63246"/>
                </a:solidFill>
                <a:latin typeface="Aptos"/>
              </a:rPr>
              <a:t>• Represents text as numeric vectors.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63246"/>
                </a:solidFill>
                <a:latin typeface="Aptos"/>
              </a:rPr>
              <a:t>• Compares profile text with project requirements.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63246"/>
                </a:solidFill>
                <a:latin typeface="Aptos"/>
              </a:rPr>
              <a:t>• Good baseline for text similarity.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20440" cy="3154680"/>
          </a:xfrm>
          <a:prstGeom prst="roundRect">
            <a:avLst/>
          </a:prstGeom>
          <a:solidFill>
            <a:srgbClr val="EFEA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Rectangle 11"/>
          <p:cNvSpPr/>
          <p:nvPr/>
        </p:nvSpPr>
        <p:spPr>
          <a:xfrm>
            <a:off x="4343400" y="1527048"/>
            <a:ext cx="64008" cy="2935224"/>
          </a:xfrm>
          <a:prstGeom prst="rect">
            <a:avLst/>
          </a:prstGeom>
          <a:solidFill>
            <a:srgbClr val="7D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26280" y="1563624"/>
            <a:ext cx="320040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1F38"/>
                </a:solidFill>
                <a:latin typeface="Aptos"/>
              </a:rPr>
              <a:t>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47672"/>
            <a:ext cx="3200400" cy="253288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63246"/>
                </a:solidFill>
                <a:latin typeface="Aptos"/>
              </a:rPr>
              <a:t>• Ensemble of decision trees.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63246"/>
                </a:solidFill>
                <a:latin typeface="Aptos"/>
              </a:rPr>
              <a:t>• Learns patterns from labeled examples.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63246"/>
                </a:solidFill>
                <a:latin typeface="Aptos"/>
              </a:rPr>
              <a:t>• Can combine structured matching features.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520440" cy="3154680"/>
          </a:xfrm>
          <a:prstGeom prst="roundRect">
            <a:avLst/>
          </a:prstGeom>
          <a:solidFill>
            <a:srgbClr val="E1F6ED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Rectangle 15"/>
          <p:cNvSpPr/>
          <p:nvPr/>
        </p:nvSpPr>
        <p:spPr>
          <a:xfrm>
            <a:off x="8046720" y="1527048"/>
            <a:ext cx="64008" cy="2935224"/>
          </a:xfrm>
          <a:prstGeom prst="rect">
            <a:avLst/>
          </a:prstGeom>
          <a:solidFill>
            <a:srgbClr val="17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229600" y="1563624"/>
            <a:ext cx="320040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1F38"/>
                </a:solidFill>
                <a:latin typeface="Aptos"/>
              </a:rPr>
              <a:t>WEIGHTED SCORING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947672"/>
            <a:ext cx="3200400" cy="253288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63246"/>
                </a:solidFill>
                <a:latin typeface="Aptos"/>
              </a:rPr>
              <a:t>• Combines interpretable match signals.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63246"/>
                </a:solidFill>
                <a:latin typeface="Aptos"/>
              </a:rPr>
              <a:t>• Useful when labels are limited.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63246"/>
                </a:solidFill>
                <a:latin typeface="Aptos"/>
              </a:rPr>
              <a:t>• Weights must be justified and tested.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83480"/>
            <a:ext cx="10607040" cy="64008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1F38"/>
                </a:solidFill>
                <a:latin typeface="Aptos"/>
              </a:rPr>
              <a:t>Recommended practice: establish a simple baseline first, then compare a trained model using the same test set.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06440"/>
            <a:ext cx="10332720" cy="27432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5748B"/>
                </a:solidFill>
                <a:latin typeface="Aptos"/>
              </a:rPr>
              <a:t>Only label an algorithm “implemented” if it exists in the submitted code.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0D6"/>
                </a:solidFill>
                <a:latin typeface="Aptos"/>
              </a:rPr>
              <a:t>SMART TEAM FORMATION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0292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1F38"/>
                </a:solidFill>
                <a:latin typeface="Aptos"/>
              </a:rPr>
              <a:t>Random Forest: How It Can Help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97280"/>
            <a:ext cx="822960" cy="50292"/>
          </a:xfrm>
          <a:prstGeom prst="rect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772400" cy="164592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5748B"/>
                </a:solidFill>
                <a:latin typeface="Aptos"/>
              </a:rPr>
              <a:t>Machine Learning Mini Project  •  Java + Python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5748B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53312"/>
            <a:ext cx="10515600" cy="36576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63246"/>
                </a:solidFill>
                <a:latin typeface="Aptos"/>
              </a:rPr>
              <a:t>Random Forest combines many decision trees and aggregates their predictions.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057400"/>
            <a:ext cx="1417320" cy="594360"/>
          </a:xfrm>
          <a:prstGeom prst="roundRect">
            <a:avLst/>
          </a:prstGeom>
          <a:solidFill>
            <a:srgbClr val="E2EDFD"/>
          </a:solidFill>
          <a:ln>
            <a:solidFill>
              <a:srgbClr val="2E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" y="2212848"/>
            <a:ext cx="1417320" cy="20116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70D6"/>
                </a:solidFill>
                <a:latin typeface="Aptos"/>
              </a:rPr>
              <a:t>Tree 1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063240"/>
            <a:ext cx="502920" cy="502920"/>
          </a:xfrm>
          <a:prstGeom prst="ellipse">
            <a:avLst/>
          </a:prstGeom>
          <a:solidFill>
            <a:srgbClr val="EFEAFF"/>
          </a:solidFill>
          <a:ln>
            <a:solidFill>
              <a:srgbClr val="7D5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Oval 10"/>
          <p:cNvSpPr/>
          <p:nvPr/>
        </p:nvSpPr>
        <p:spPr>
          <a:xfrm>
            <a:off x="1920240" y="3063240"/>
            <a:ext cx="502920" cy="502920"/>
          </a:xfrm>
          <a:prstGeom prst="ellipse">
            <a:avLst/>
          </a:prstGeom>
          <a:solidFill>
            <a:srgbClr val="EFEAFF"/>
          </a:solidFill>
          <a:ln>
            <a:solidFill>
              <a:srgbClr val="7D5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cxnSp>
        <p:nvCxnSpPr>
          <p:cNvPr id="12" name="Connector 11"/>
          <p:cNvCxnSpPr/>
          <p:nvPr/>
        </p:nvCxnSpPr>
        <p:spPr>
          <a:xfrm flipH="1">
            <a:off x="1417320" y="2651760"/>
            <a:ext cx="274320" cy="411480"/>
          </a:xfrm>
          <a:prstGeom prst="line">
            <a:avLst/>
          </a:prstGeom>
          <a:ln w="12700">
            <a:solidFill>
              <a:srgbClr val="7D5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737360" y="2651760"/>
            <a:ext cx="182880" cy="411480"/>
          </a:xfrm>
          <a:prstGeom prst="line">
            <a:avLst/>
          </a:prstGeom>
          <a:ln w="12700">
            <a:solidFill>
              <a:srgbClr val="7D5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154680" y="2057400"/>
            <a:ext cx="1417320" cy="594360"/>
          </a:xfrm>
          <a:prstGeom prst="roundRect">
            <a:avLst/>
          </a:prstGeom>
          <a:solidFill>
            <a:srgbClr val="E2EDFD"/>
          </a:solidFill>
          <a:ln>
            <a:solidFill>
              <a:srgbClr val="2E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3154680" y="2212848"/>
            <a:ext cx="1417320" cy="20116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70D6"/>
                </a:solidFill>
                <a:latin typeface="Aptos"/>
              </a:rPr>
              <a:t>Tree 2</a:t>
            </a:r>
          </a:p>
        </p:txBody>
      </p:sp>
      <p:sp>
        <p:nvSpPr>
          <p:cNvPr id="16" name="Oval 15"/>
          <p:cNvSpPr/>
          <p:nvPr/>
        </p:nvSpPr>
        <p:spPr>
          <a:xfrm>
            <a:off x="3246120" y="3063240"/>
            <a:ext cx="502920" cy="502920"/>
          </a:xfrm>
          <a:prstGeom prst="ellipse">
            <a:avLst/>
          </a:prstGeom>
          <a:solidFill>
            <a:srgbClr val="EFEAFF"/>
          </a:solidFill>
          <a:ln>
            <a:solidFill>
              <a:srgbClr val="7D5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Oval 16"/>
          <p:cNvSpPr/>
          <p:nvPr/>
        </p:nvSpPr>
        <p:spPr>
          <a:xfrm>
            <a:off x="4069080" y="3063240"/>
            <a:ext cx="502920" cy="502920"/>
          </a:xfrm>
          <a:prstGeom prst="ellipse">
            <a:avLst/>
          </a:prstGeom>
          <a:solidFill>
            <a:srgbClr val="EFEAFF"/>
          </a:solidFill>
          <a:ln>
            <a:solidFill>
              <a:srgbClr val="7D5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cxnSp>
        <p:nvCxnSpPr>
          <p:cNvPr id="18" name="Connector 17"/>
          <p:cNvCxnSpPr/>
          <p:nvPr/>
        </p:nvCxnSpPr>
        <p:spPr>
          <a:xfrm flipH="1">
            <a:off x="3566160" y="2651760"/>
            <a:ext cx="274320" cy="411480"/>
          </a:xfrm>
          <a:prstGeom prst="line">
            <a:avLst/>
          </a:prstGeom>
          <a:ln w="12700">
            <a:solidFill>
              <a:srgbClr val="7D5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86200" y="2651760"/>
            <a:ext cx="182880" cy="411480"/>
          </a:xfrm>
          <a:prstGeom prst="line">
            <a:avLst/>
          </a:prstGeom>
          <a:ln w="12700">
            <a:solidFill>
              <a:srgbClr val="7D5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303520" y="2057400"/>
            <a:ext cx="1417320" cy="594360"/>
          </a:xfrm>
          <a:prstGeom prst="roundRect">
            <a:avLst/>
          </a:prstGeom>
          <a:solidFill>
            <a:srgbClr val="E2EDFD"/>
          </a:solidFill>
          <a:ln>
            <a:solidFill>
              <a:srgbClr val="2E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5303520" y="2212848"/>
            <a:ext cx="1417320" cy="20116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70D6"/>
                </a:solidFill>
                <a:latin typeface="Aptos"/>
              </a:rPr>
              <a:t>Tree 3</a:t>
            </a:r>
          </a:p>
        </p:txBody>
      </p:sp>
      <p:sp>
        <p:nvSpPr>
          <p:cNvPr id="22" name="Oval 21"/>
          <p:cNvSpPr/>
          <p:nvPr/>
        </p:nvSpPr>
        <p:spPr>
          <a:xfrm>
            <a:off x="5394960" y="3063240"/>
            <a:ext cx="502920" cy="502920"/>
          </a:xfrm>
          <a:prstGeom prst="ellipse">
            <a:avLst/>
          </a:prstGeom>
          <a:solidFill>
            <a:srgbClr val="EFEAFF"/>
          </a:solidFill>
          <a:ln>
            <a:solidFill>
              <a:srgbClr val="7D5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Oval 22"/>
          <p:cNvSpPr/>
          <p:nvPr/>
        </p:nvSpPr>
        <p:spPr>
          <a:xfrm>
            <a:off x="6217920" y="3063240"/>
            <a:ext cx="502920" cy="502920"/>
          </a:xfrm>
          <a:prstGeom prst="ellipse">
            <a:avLst/>
          </a:prstGeom>
          <a:solidFill>
            <a:srgbClr val="EFEAFF"/>
          </a:solidFill>
          <a:ln>
            <a:solidFill>
              <a:srgbClr val="7D5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cxnSp>
        <p:nvCxnSpPr>
          <p:cNvPr id="24" name="Connector 23"/>
          <p:cNvCxnSpPr/>
          <p:nvPr/>
        </p:nvCxnSpPr>
        <p:spPr>
          <a:xfrm flipH="1">
            <a:off x="5715000" y="2651760"/>
            <a:ext cx="274320" cy="411480"/>
          </a:xfrm>
          <a:prstGeom prst="line">
            <a:avLst/>
          </a:prstGeom>
          <a:ln w="12700">
            <a:solidFill>
              <a:srgbClr val="7D5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35040" y="2651760"/>
            <a:ext cx="182880" cy="411480"/>
          </a:xfrm>
          <a:prstGeom prst="line">
            <a:avLst/>
          </a:prstGeom>
          <a:ln w="12700">
            <a:solidFill>
              <a:srgbClr val="7D5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086600" y="2743200"/>
            <a:ext cx="731520" cy="0"/>
          </a:xfrm>
          <a:prstGeom prst="line">
            <a:avLst/>
          </a:prstGeom>
          <a:ln w="25400">
            <a:solidFill>
              <a:srgbClr val="1791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909560" y="2057400"/>
            <a:ext cx="3200400" cy="1508760"/>
          </a:xfrm>
          <a:prstGeom prst="roundRect">
            <a:avLst/>
          </a:prstGeom>
          <a:solidFill>
            <a:srgbClr val="E1F6ED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Rectangle 27"/>
          <p:cNvSpPr/>
          <p:nvPr/>
        </p:nvSpPr>
        <p:spPr>
          <a:xfrm>
            <a:off x="7909560" y="2167128"/>
            <a:ext cx="64008" cy="1289304"/>
          </a:xfrm>
          <a:prstGeom prst="rect">
            <a:avLst/>
          </a:prstGeom>
          <a:solidFill>
            <a:srgbClr val="17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8092440" y="2203704"/>
            <a:ext cx="288036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1F38"/>
                </a:solidFill>
                <a:latin typeface="Aptos"/>
              </a:rPr>
              <a:t>AGGREGATION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2587752"/>
            <a:ext cx="2880360" cy="886967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246"/>
                </a:solidFill>
                <a:latin typeface="Aptos"/>
              </a:rPr>
              <a:t>Combine tree outputs (majority vote or average probability).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251960"/>
            <a:ext cx="4754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2" name="Rectangle 31"/>
          <p:cNvSpPr/>
          <p:nvPr/>
        </p:nvSpPr>
        <p:spPr>
          <a:xfrm>
            <a:off x="914400" y="4361688"/>
            <a:ext cx="64008" cy="923544"/>
          </a:xfrm>
          <a:prstGeom prst="rect">
            <a:avLst/>
          </a:prstGeom>
          <a:solidFill>
            <a:srgbClr val="2E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1097280" y="4398264"/>
            <a:ext cx="443484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1F38"/>
                </a:solidFill>
                <a:latin typeface="Aptos"/>
              </a:rPr>
              <a:t>WHY IT MAY FIT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782312"/>
            <a:ext cx="4434840" cy="521207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246"/>
                </a:solidFill>
                <a:latin typeface="Aptos"/>
              </a:rPr>
              <a:t>Handles mixed numeric/categorical features and nonlinear relationships.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251960"/>
            <a:ext cx="4754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6" name="Rectangle 35"/>
          <p:cNvSpPr/>
          <p:nvPr/>
        </p:nvSpPr>
        <p:spPr>
          <a:xfrm>
            <a:off x="6400800" y="4361688"/>
            <a:ext cx="64008" cy="923544"/>
          </a:xfrm>
          <a:prstGeom prst="rect">
            <a:avLst/>
          </a:prstGeom>
          <a:solidFill>
            <a:srgbClr val="F0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6583680" y="4398264"/>
            <a:ext cx="443484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1F38"/>
                </a:solidFill>
                <a:latin typeface="Aptos"/>
              </a:rPr>
              <a:t>CAUTION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782312"/>
            <a:ext cx="4434840" cy="521207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246"/>
                </a:solidFill>
                <a:latin typeface="Aptos"/>
              </a:rPr>
              <a:t>Needs representative labeled data; avoid overfitting and data leakage.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715000"/>
            <a:ext cx="1014984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65858"/>
                </a:solidFill>
                <a:latin typeface="Aptos"/>
              </a:rPr>
              <a:t>If training labels are unavailable, use similarity-based scoring instead of claiming supervised learning.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0D6"/>
                </a:solidFill>
                <a:latin typeface="Aptos"/>
              </a:rPr>
              <a:t>SMART TEAM FORMATION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0292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1F38"/>
                </a:solidFill>
                <a:latin typeface="Aptos"/>
              </a:rPr>
              <a:t>Similarity &amp; Compatibility 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97280"/>
            <a:ext cx="822960" cy="50292"/>
          </a:xfrm>
          <a:prstGeom prst="rect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772400" cy="164592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5748B"/>
                </a:solidFill>
                <a:latin typeface="Aptos"/>
              </a:rPr>
              <a:t>Machine Learning Mini Project  •  Java + Python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5748B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166360" cy="1874519"/>
          </a:xfrm>
          <a:prstGeom prst="roundRect">
            <a:avLst/>
          </a:prstGeom>
          <a:solidFill>
            <a:srgbClr val="E2EDFD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Rectangle 7"/>
          <p:cNvSpPr/>
          <p:nvPr/>
        </p:nvSpPr>
        <p:spPr>
          <a:xfrm>
            <a:off x="685800" y="1527048"/>
            <a:ext cx="64008" cy="1655063"/>
          </a:xfrm>
          <a:prstGeom prst="rect">
            <a:avLst/>
          </a:prstGeom>
          <a:solidFill>
            <a:srgbClr val="2E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68680" y="1563624"/>
            <a:ext cx="484632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1F38"/>
                </a:solidFill>
                <a:latin typeface="Aptos"/>
              </a:rPr>
              <a:t>COSINE SIMILARITY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47672"/>
            <a:ext cx="4846320" cy="1252727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246"/>
                </a:solidFill>
                <a:latin typeface="Aptos"/>
              </a:rPr>
              <a:t>cosine(A, B) = (A · B) / (||A|| × ||B||)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246"/>
                </a:solidFill>
                <a:latin typeface="Aptos"/>
              </a:rPr>
              <a:t>Closer to 1 means more similar vector direction.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166360" cy="1874519"/>
          </a:xfrm>
          <a:prstGeom prst="roundRect">
            <a:avLst/>
          </a:prstGeom>
          <a:solidFill>
            <a:srgbClr val="E1F6ED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Rectangle 11"/>
          <p:cNvSpPr/>
          <p:nvPr/>
        </p:nvSpPr>
        <p:spPr>
          <a:xfrm>
            <a:off x="6263640" y="1527048"/>
            <a:ext cx="64008" cy="1655063"/>
          </a:xfrm>
          <a:prstGeom prst="rect">
            <a:avLst/>
          </a:prstGeom>
          <a:solidFill>
            <a:srgbClr val="17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46520" y="1563624"/>
            <a:ext cx="484632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1F38"/>
                </a:solidFill>
                <a:latin typeface="Aptos"/>
              </a:rPr>
              <a:t>SKILL OVERLAP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47672"/>
            <a:ext cx="4846320" cy="1252727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63246"/>
                </a:solidFill>
                <a:latin typeface="Aptos"/>
              </a:rPr>
              <a:t>Skill match = matched required skills ÷ total required skills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63246"/>
                </a:solidFill>
                <a:latin typeface="Aptos"/>
              </a:rPr>
              <a:t>Example: 2 of 3 required skills = 0.67.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03320"/>
            <a:ext cx="10607040" cy="41148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1F38"/>
                </a:solidFill>
                <a:latin typeface="Aptos"/>
              </a:rPr>
              <a:t>Illustrative weighted score (weights must be validated)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297680"/>
            <a:ext cx="10241280" cy="777240"/>
          </a:xfrm>
          <a:prstGeom prst="round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097280" y="4526280"/>
            <a:ext cx="996696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Final Score = w₁(Skill Match) + w₂(Availability) + w₃(Experience) + w₄(Text Similarity)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486400"/>
            <a:ext cx="10149840" cy="45720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5748B"/>
                </a:solidFill>
                <a:latin typeface="Aptos"/>
              </a:rPr>
              <a:t>The weights and score range must come from the actual implementation or be described as a proposed design.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0D6"/>
                </a:solidFill>
                <a:latin typeface="Aptos"/>
              </a:rPr>
              <a:t>SMART TEAM FORMATION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0292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1F38"/>
                </a:solidFill>
                <a:latin typeface="Aptos"/>
              </a:rPr>
              <a:t>Model Evaluation: Prove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97280"/>
            <a:ext cx="822960" cy="50292"/>
          </a:xfrm>
          <a:prstGeom prst="rect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772400" cy="164592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5748B"/>
                </a:solidFill>
                <a:latin typeface="Aptos"/>
              </a:rPr>
              <a:t>Machine Learning Mini Project  •  Java + Python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5748B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1874519"/>
          </a:xfrm>
          <a:prstGeom prst="roundRect">
            <a:avLst/>
          </a:prstGeom>
          <a:solidFill>
            <a:srgbClr val="E2EDFD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527048"/>
            <a:ext cx="64008" cy="1655063"/>
          </a:xfrm>
          <a:prstGeom prst="rect">
            <a:avLst/>
          </a:prstGeom>
          <a:solidFill>
            <a:srgbClr val="2E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22959" y="1563624"/>
            <a:ext cx="320040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1F38"/>
                </a:solidFill>
                <a:latin typeface="Aptos"/>
              </a:rPr>
              <a:t>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947672"/>
            <a:ext cx="3200400" cy="1252727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246"/>
                </a:solidFill>
                <a:latin typeface="Aptos"/>
              </a:rPr>
              <a:t>Accuracy, precision, recall, F1-score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246"/>
                </a:solidFill>
                <a:latin typeface="Aptos"/>
              </a:rPr>
              <a:t>Use when target labels are categories.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20440" cy="1874519"/>
          </a:xfrm>
          <a:prstGeom prst="roundRect">
            <a:avLst/>
          </a:prstGeom>
          <a:solidFill>
            <a:srgbClr val="EFEA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Rectangle 11"/>
          <p:cNvSpPr/>
          <p:nvPr/>
        </p:nvSpPr>
        <p:spPr>
          <a:xfrm>
            <a:off x="4343400" y="1527048"/>
            <a:ext cx="64008" cy="1655063"/>
          </a:xfrm>
          <a:prstGeom prst="rect">
            <a:avLst/>
          </a:prstGeom>
          <a:solidFill>
            <a:srgbClr val="7D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26280" y="1563624"/>
            <a:ext cx="320040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1F38"/>
                </a:solidFill>
                <a:latin typeface="Aptos"/>
              </a:rPr>
              <a:t>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47672"/>
            <a:ext cx="3200400" cy="1252727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246"/>
                </a:solidFill>
                <a:latin typeface="Aptos"/>
              </a:rPr>
              <a:t>MAE, RMSE, R²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246"/>
                </a:solidFill>
                <a:latin typeface="Aptos"/>
              </a:rPr>
              <a:t>Use when target is a numeric rating/score.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520440" cy="1874519"/>
          </a:xfrm>
          <a:prstGeom prst="roundRect">
            <a:avLst/>
          </a:prstGeom>
          <a:solidFill>
            <a:srgbClr val="E1F6ED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Rectangle 15"/>
          <p:cNvSpPr/>
          <p:nvPr/>
        </p:nvSpPr>
        <p:spPr>
          <a:xfrm>
            <a:off x="8046720" y="1527048"/>
            <a:ext cx="64008" cy="1655063"/>
          </a:xfrm>
          <a:prstGeom prst="rect">
            <a:avLst/>
          </a:prstGeom>
          <a:solidFill>
            <a:srgbClr val="17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229600" y="1563624"/>
            <a:ext cx="320040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1F38"/>
                </a:solidFill>
                <a:latin typeface="Aptos"/>
              </a:rPr>
              <a:t>RANKING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947672"/>
            <a:ext cx="3200400" cy="1252727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246"/>
                </a:solidFill>
                <a:latin typeface="Aptos"/>
              </a:rPr>
              <a:t>Precision@K or human review of top matches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246"/>
                </a:solidFill>
                <a:latin typeface="Aptos"/>
              </a:rPr>
              <a:t>Useful for recommendation lists.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49039"/>
            <a:ext cx="10698480" cy="41148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1F38"/>
                </a:solidFill>
                <a:latin typeface="Aptos"/>
              </a:rPr>
              <a:t>Evaluation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51960"/>
            <a:ext cx="10515600" cy="1371600"/>
          </a:xfrm>
          <a:prstGeom prst="rect">
            <a:avLst/>
          </a:prstGeom>
          <a:noFill/>
        </p:spPr>
        <p:txBody>
          <a:bodyPr wrap="square" lIns="64008" rIns="64008" bIns="32004" tIns="32004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63246"/>
                </a:solidFill>
                <a:latin typeface="Aptos"/>
              </a:rPr>
              <a:t>•  Split data into training and test sets before fitting preprocessing/model steps.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63246"/>
                </a:solidFill>
                <a:latin typeface="Aptos"/>
              </a:rPr>
              <a:t>•  Compare the model against a simple baseline.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63246"/>
                </a:solidFill>
                <a:latin typeface="Aptos"/>
              </a:rPr>
              <a:t>•  Report actual measured values only—never invent accuracy or scores.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5806440"/>
            <a:ext cx="4297680" cy="347472"/>
          </a:xfrm>
          <a:prstGeom prst="roundRect">
            <a:avLst/>
          </a:prstGeom>
          <a:solidFill>
            <a:srgbClr val="FD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3968496" y="5843016"/>
            <a:ext cx="4224528" cy="237744"/>
          </a:xfrm>
          <a:prstGeom prst="rect">
            <a:avLst/>
          </a:prstGeom>
          <a:noFill/>
        </p:spPr>
        <p:txBody>
          <a:bodyPr wrap="square" lIns="64008" rIns="64008" tIns="32004" bIns="32004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C631A"/>
                </a:solidFill>
                <a:latin typeface="Aptos"/>
              </a:rPr>
              <a:t>No real labels? Report this as a prototype limitation.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0D6"/>
                </a:solidFill>
                <a:latin typeface="Aptos"/>
              </a:rPr>
              <a:t>SMART TEAM FORMATION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0292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1F38"/>
                </a:solidFill>
                <a:latin typeface="Aptos"/>
              </a:rPr>
              <a:t>Example: How Recommendations Are Produced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97280"/>
            <a:ext cx="822960" cy="50292"/>
          </a:xfrm>
          <a:prstGeom prst="rect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772400" cy="164592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5748B"/>
                </a:solidFill>
                <a:latin typeface="Aptos"/>
              </a:rPr>
              <a:t>Machine Learning Mini Project  •  Java + Python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5748B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1148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70D6"/>
                </a:solidFill>
                <a:latin typeface="Aptos"/>
              </a:rPr>
              <a:t>PROJECT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5120640" cy="82296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3246"/>
                </a:solidFill>
                <a:latin typeface="Aptos"/>
              </a:rPr>
              <a:t>Smart Attendance System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3246"/>
                </a:solidFill>
                <a:latin typeface="Aptos"/>
              </a:rPr>
              <a:t>Required skills: Java, Python, 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3246"/>
                </a:solidFill>
                <a:latin typeface="Aptos"/>
              </a:rPr>
              <a:t>Preferred availability: Monday, Saturday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25880"/>
            <a:ext cx="5029200" cy="41148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9187"/>
                </a:solidFill>
                <a:latin typeface="Aptos"/>
              </a:rPr>
              <a:t>ILLUSTRATIVE OUTPUT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783080"/>
          <a:ext cx="48463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5715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CANDIDATE</a:t>
                      </a:r>
                    </a:p>
                  </a:txBody>
                  <a:tcPr>
                    <a:solidFill>
                      <a:srgbClr val="1791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SKILL MATCH</a:t>
                      </a:r>
                    </a:p>
                  </a:txBody>
                  <a:tcPr>
                    <a:solidFill>
                      <a:srgbClr val="1791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SCORE*</a:t>
                      </a:r>
                    </a:p>
                  </a:txBody>
                  <a:tcPr>
                    <a:solidFill>
                      <a:srgbClr val="17918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3246"/>
                          </a:solidFill>
                        </a:rPr>
                        <a:t>Candidate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3246"/>
                          </a:solidFill>
                        </a:rPr>
                        <a:t>3/3 skills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3246"/>
                          </a:solidFill>
                        </a:rPr>
                        <a:t>92/100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3246"/>
                          </a:solidFill>
                        </a:rPr>
                        <a:t>Candidate B</a:t>
                      </a:r>
                    </a:p>
                  </a:txBody>
                  <a:tcPr>
                    <a:solidFill>
                      <a:srgbClr val="E1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3246"/>
                          </a:solidFill>
                        </a:rPr>
                        <a:t>2/3 skills</a:t>
                      </a:r>
                    </a:p>
                  </a:txBody>
                  <a:tcPr>
                    <a:solidFill>
                      <a:srgbClr val="E1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3246"/>
                          </a:solidFill>
                        </a:rPr>
                        <a:t>67/100</a:t>
                      </a:r>
                    </a:p>
                  </a:txBody>
                  <a:tcPr>
                    <a:solidFill>
                      <a:srgbClr val="E1F6E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3246"/>
                          </a:solidFill>
                        </a:rPr>
                        <a:t>Candidate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3246"/>
                          </a:solidFill>
                        </a:rPr>
                        <a:t>1/3 skills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3246"/>
                          </a:solidFill>
                        </a:rPr>
                        <a:t>34/100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4069080"/>
            <a:ext cx="49834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Rectangle 11"/>
          <p:cNvSpPr/>
          <p:nvPr/>
        </p:nvSpPr>
        <p:spPr>
          <a:xfrm>
            <a:off x="731520" y="4178808"/>
            <a:ext cx="64008" cy="877824"/>
          </a:xfrm>
          <a:prstGeom prst="rect">
            <a:avLst/>
          </a:prstGeom>
          <a:solidFill>
            <a:srgbClr val="F0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14400" y="4215384"/>
            <a:ext cx="466344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1F38"/>
                </a:solidFill>
                <a:latin typeface="Aptos"/>
              </a:rPr>
              <a:t>JAVA RESPONSIBILITY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99432"/>
            <a:ext cx="4663440" cy="475487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246"/>
                </a:solidFill>
                <a:latin typeface="Aptos"/>
              </a:rPr>
              <a:t>Fetch profiles, call the API, sort scores, display results.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343400"/>
            <a:ext cx="4892040" cy="1097280"/>
          </a:xfrm>
          <a:prstGeom prst="roundRect">
            <a:avLst/>
          </a:prstGeom>
          <a:solidFill>
            <a:srgbClr val="EFEA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Rectangle 15"/>
          <p:cNvSpPr/>
          <p:nvPr/>
        </p:nvSpPr>
        <p:spPr>
          <a:xfrm>
            <a:off x="6355080" y="4453128"/>
            <a:ext cx="64008" cy="877824"/>
          </a:xfrm>
          <a:prstGeom prst="rect">
            <a:avLst/>
          </a:prstGeom>
          <a:solidFill>
            <a:srgbClr val="7D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537960" y="4489704"/>
            <a:ext cx="457200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1F38"/>
                </a:solidFill>
                <a:latin typeface="Aptos"/>
              </a:rPr>
              <a:t>ML RESPONSIBILITY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873752"/>
            <a:ext cx="4572000" cy="475487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246"/>
                </a:solidFill>
                <a:latin typeface="Aptos"/>
              </a:rPr>
              <a:t>Calculate/return scores from feature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06440"/>
            <a:ext cx="10607040" cy="27432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65858"/>
                </a:solidFill>
                <a:latin typeface="Aptos"/>
              </a:rPr>
              <a:t>*All example scores are fictional for explaining the output format, not measured model results.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0D6"/>
                </a:solidFill>
                <a:latin typeface="Aptos"/>
              </a:rPr>
              <a:t>SMART TEAM FORMATION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0292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1F38"/>
                </a:solidFill>
                <a:latin typeface="Aptos"/>
              </a:rPr>
              <a:t>Java + ML Integration (Short)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97280"/>
            <a:ext cx="822960" cy="50292"/>
          </a:xfrm>
          <a:prstGeom prst="rect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772400" cy="164592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5748B"/>
                </a:solidFill>
                <a:latin typeface="Aptos"/>
              </a:rPr>
              <a:t>Machine Learning Mini Project  •  Java + Python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5748B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0749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Rectangle 7"/>
          <p:cNvSpPr/>
          <p:nvPr/>
        </p:nvSpPr>
        <p:spPr>
          <a:xfrm>
            <a:off x="685800" y="1527048"/>
            <a:ext cx="64008" cy="2935224"/>
          </a:xfrm>
          <a:prstGeom prst="rect">
            <a:avLst/>
          </a:prstGeom>
          <a:solidFill>
            <a:srgbClr val="F0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68680" y="1563624"/>
            <a:ext cx="475488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1F38"/>
                </a:solidFill>
                <a:latin typeface="Aptos"/>
              </a:rPr>
              <a:t>JAVA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47672"/>
            <a:ext cx="4754880" cy="253288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246"/>
                </a:solidFill>
                <a:latin typeface="Aptos"/>
              </a:rPr>
              <a:t>1. Read project and candidate data from MySQL.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246"/>
                </a:solidFill>
                <a:latin typeface="Aptos"/>
              </a:rPr>
              <a:t>2. Build a JSON request.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246"/>
                </a:solidFill>
                <a:latin typeface="Aptos"/>
              </a:rPr>
              <a:t>3. Send HTTP POST to the Python ML API.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246"/>
                </a:solidFill>
                <a:latin typeface="Aptos"/>
              </a:rPr>
              <a:t>4. Parse the response and display ranked matches.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074920" cy="3154680"/>
          </a:xfrm>
          <a:prstGeom prst="roundRect">
            <a:avLst/>
          </a:prstGeom>
          <a:solidFill>
            <a:srgbClr val="EFEA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Rectangle 11"/>
          <p:cNvSpPr/>
          <p:nvPr/>
        </p:nvSpPr>
        <p:spPr>
          <a:xfrm>
            <a:off x="6263640" y="1527048"/>
            <a:ext cx="64008" cy="2935224"/>
          </a:xfrm>
          <a:prstGeom prst="rect">
            <a:avLst/>
          </a:prstGeom>
          <a:solidFill>
            <a:srgbClr val="7D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46520" y="1563624"/>
            <a:ext cx="475488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1F38"/>
                </a:solidFill>
                <a:latin typeface="Aptos"/>
              </a:rPr>
              <a:t>PYTHON ML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47672"/>
            <a:ext cx="4754880" cy="253288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246"/>
                </a:solidFill>
                <a:latin typeface="Aptos"/>
              </a:rPr>
              <a:t>1. Validate incoming features.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246"/>
                </a:solidFill>
                <a:latin typeface="Aptos"/>
              </a:rPr>
              <a:t>2. Apply the same preprocessing used in training.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246"/>
                </a:solidFill>
                <a:latin typeface="Aptos"/>
              </a:rPr>
              <a:t>3. Load the saved model or compute similarity.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246"/>
                </a:solidFill>
                <a:latin typeface="Aptos"/>
              </a:rPr>
              <a:t>4. Return scores as JSON.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720" y="2743200"/>
            <a:ext cx="502920" cy="0"/>
          </a:xfrm>
          <a:prstGeom prst="line">
            <a:avLst/>
          </a:prstGeom>
          <a:ln w="25400">
            <a:solidFill>
              <a:srgbClr val="2E7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760720" y="3383280"/>
            <a:ext cx="502920" cy="0"/>
          </a:xfrm>
          <a:prstGeom prst="line">
            <a:avLst/>
          </a:prstGeom>
          <a:ln w="25400">
            <a:solidFill>
              <a:srgbClr val="1791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29000" y="5074920"/>
            <a:ext cx="5303520" cy="347472"/>
          </a:xfrm>
          <a:prstGeom prst="roundRect">
            <a:avLst/>
          </a:prstGeom>
          <a:solidFill>
            <a:srgbClr val="DE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3465576" y="5111496"/>
            <a:ext cx="5230368" cy="237744"/>
          </a:xfrm>
          <a:prstGeom prst="rect">
            <a:avLst/>
          </a:prstGeom>
          <a:noFill/>
        </p:spPr>
        <p:txBody>
          <a:bodyPr wrap="square" lIns="64008" rIns="64008" tIns="32004" bIns="32004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79187"/>
                </a:solidFill>
                <a:latin typeface="Aptos"/>
              </a:rPr>
              <a:t>Example service URL: http://127.0.0.1:8000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69280"/>
            <a:ext cx="1033272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5748B"/>
                </a:solidFill>
                <a:latin typeface="Aptos"/>
              </a:rPr>
              <a:t>Confirm the actual endpoint and port in the submitted source code before the demo.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0D6"/>
                </a:solidFill>
                <a:latin typeface="Aptos"/>
              </a:rPr>
              <a:t>SMART TEAM FORMATION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0292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1F38"/>
                </a:solidFill>
                <a:latin typeface="Aptos"/>
              </a:rPr>
              <a:t>Limitations, Fairness &amp; Improvements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97280"/>
            <a:ext cx="822960" cy="50292"/>
          </a:xfrm>
          <a:prstGeom prst="rect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772400" cy="164592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5748B"/>
                </a:solidFill>
                <a:latin typeface="Aptos"/>
              </a:rPr>
              <a:t>Machine Learning Mini Project  •  Java + Python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5748B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0749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Rectangle 7"/>
          <p:cNvSpPr/>
          <p:nvPr/>
        </p:nvSpPr>
        <p:spPr>
          <a:xfrm>
            <a:off x="685800" y="1527048"/>
            <a:ext cx="64008" cy="3255263"/>
          </a:xfrm>
          <a:prstGeom prst="rect">
            <a:avLst/>
          </a:prstGeom>
          <a:solidFill>
            <a:srgbClr val="D6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68680" y="1563624"/>
            <a:ext cx="475488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1F38"/>
                </a:solidFill>
                <a:latin typeface="Aptos"/>
              </a:rPr>
              <a:t>CURRENT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47672"/>
            <a:ext cx="4754880" cy="2852927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246"/>
                </a:solidFill>
                <a:latin typeface="Aptos"/>
              </a:rPr>
              <a:t>• Profile data may be incomplete or self-reported.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246"/>
                </a:solidFill>
                <a:latin typeface="Aptos"/>
              </a:rPr>
              <a:t>• Small or synthetic datasets do not prove real-world performance.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246"/>
                </a:solidFill>
                <a:latin typeface="Aptos"/>
              </a:rPr>
              <a:t>• Similarity is not the same as teamwork success.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246"/>
                </a:solidFill>
                <a:latin typeface="Aptos"/>
              </a:rPr>
              <a:t>• Scores depend on chosen features and weights.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074920" cy="3474720"/>
          </a:xfrm>
          <a:prstGeom prst="roundRect">
            <a:avLst/>
          </a:prstGeom>
          <a:solidFill>
            <a:srgbClr val="E1F6ED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Rectangle 11"/>
          <p:cNvSpPr/>
          <p:nvPr/>
        </p:nvSpPr>
        <p:spPr>
          <a:xfrm>
            <a:off x="6263640" y="1527048"/>
            <a:ext cx="64008" cy="3255263"/>
          </a:xfrm>
          <a:prstGeom prst="rect">
            <a:avLst/>
          </a:prstGeom>
          <a:solidFill>
            <a:srgbClr val="17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46520" y="1563624"/>
            <a:ext cx="475488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1F38"/>
                </a:solidFill>
                <a:latin typeface="Aptos"/>
              </a:rPr>
              <a:t>FUTURE IMPROVEMENTS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47672"/>
            <a:ext cx="4754880" cy="2852927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246"/>
                </a:solidFill>
                <a:latin typeface="Aptos"/>
              </a:rPr>
              <a:t>• Collect consent-based, real feedback labels.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246"/>
                </a:solidFill>
                <a:latin typeface="Aptos"/>
              </a:rPr>
              <a:t>• Explain why each candidate was recommended.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246"/>
                </a:solidFill>
                <a:latin typeface="Aptos"/>
              </a:rPr>
              <a:t>• Compare baseline and ML model results.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246"/>
                </a:solidFill>
                <a:latin typeface="Aptos"/>
              </a:rPr>
              <a:t>• Tune features and validate weights.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246"/>
                </a:solidFill>
                <a:latin typeface="Aptos"/>
              </a:rPr>
              <a:t>• Monitor fairness and protect student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49240"/>
            <a:ext cx="10332720" cy="50292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1F38"/>
                </a:solidFill>
                <a:latin typeface="Aptos"/>
              </a:rPr>
              <a:t>Human decision stays final: the system assists students; it should not automatically decide who belongs in a team.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CBECD"/>
                </a:solidFill>
                <a:latin typeface="Aptos"/>
              </a:rPr>
              <a:t>SMART TEAM FORMATION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68580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10515600" cy="128016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E2EBF9"/>
                </a:solidFill>
                <a:latin typeface="Aptos"/>
              </a:rPr>
              <a:t>The project demonstrates how Machine Learning can support student team formation by transforming profile data into compatibility estimates and ranked recommendations.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703320"/>
            <a:ext cx="594360" cy="347472"/>
          </a:xfrm>
          <a:prstGeom prst="roundRect">
            <a:avLst/>
          </a:prstGeom>
          <a:solidFill>
            <a:srgbClr val="24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05256" y="3739896"/>
            <a:ext cx="521208" cy="237744"/>
          </a:xfrm>
          <a:prstGeom prst="rect">
            <a:avLst/>
          </a:prstGeom>
          <a:noFill/>
        </p:spPr>
        <p:txBody>
          <a:bodyPr wrap="square" lIns="64008" rIns="64008" tIns="32004" bIns="32004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CBECD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3730752"/>
            <a:ext cx="941832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Feature engineering turns profile data into model inputs.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389120"/>
            <a:ext cx="594360" cy="347472"/>
          </a:xfrm>
          <a:prstGeom prst="roundRect">
            <a:avLst/>
          </a:prstGeom>
          <a:solidFill>
            <a:srgbClr val="24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05256" y="4425696"/>
            <a:ext cx="521208" cy="237744"/>
          </a:xfrm>
          <a:prstGeom prst="rect">
            <a:avLst/>
          </a:prstGeom>
          <a:noFill/>
        </p:spPr>
        <p:txBody>
          <a:bodyPr wrap="square" lIns="64008" rIns="64008" tIns="32004" bIns="32004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CBECD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4416552"/>
            <a:ext cx="941832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Similarity or supervised ML estimates compatibility.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074920"/>
            <a:ext cx="594360" cy="347472"/>
          </a:xfrm>
          <a:prstGeom prst="roundRect">
            <a:avLst/>
          </a:prstGeom>
          <a:solidFill>
            <a:srgbClr val="24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05256" y="5111496"/>
            <a:ext cx="521208" cy="237744"/>
          </a:xfrm>
          <a:prstGeom prst="rect">
            <a:avLst/>
          </a:prstGeom>
          <a:noFill/>
        </p:spPr>
        <p:txBody>
          <a:bodyPr wrap="square" lIns="64008" rIns="64008" tIns="32004" bIns="32004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CBECD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5102352"/>
            <a:ext cx="941832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Java connects the model to a usable web application.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172200"/>
            <a:ext cx="10515600" cy="320040"/>
          </a:xfrm>
          <a:prstGeom prst="rect">
            <a:avLst/>
          </a:prstGeom>
          <a:noFill/>
        </p:spPr>
        <p:txBody>
          <a:bodyPr wrap="square" lIns="64008" rIns="64008" tIns="32004" bIns="32004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BECD"/>
                </a:solidFill>
                <a:latin typeface="Aptos"/>
              </a:rP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Team Formation AI — ML Mini Project</dc:title>
  <dc:subject>Machine Learning focused presentation with Java integration</dc:subject>
  <dc:creator>OpenAI</dc:creator>
  <cp:keywords>Machine Learning, Random Forest, TF-IDF, Cosine Similarity, Java, MySQL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